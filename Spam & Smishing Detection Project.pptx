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vendra vyas" userId="1256c67f15fe5ff1" providerId="LiveId" clId="{A765948A-FFD1-4CC6-B4CA-A6E16E0214E5}"/>
    <pc:docChg chg="delSld">
      <pc:chgData name="yashvendra vyas" userId="1256c67f15fe5ff1" providerId="LiveId" clId="{A765948A-FFD1-4CC6-B4CA-A6E16E0214E5}" dt="2026-09-09T21:05:18.870" v="0" actId="47"/>
      <pc:docMkLst>
        <pc:docMk/>
      </pc:docMkLst>
      <pc:sldChg chg="del">
        <pc:chgData name="yashvendra vyas" userId="1256c67f15fe5ff1" providerId="LiveId" clId="{A765948A-FFD1-4CC6-B4CA-A6E16E0214E5}" dt="2026-09-09T21:05:18.870" v="0" actId="47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913780"/>
            <a:ext cx="9001125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Next-Gen </a:t>
            </a:r>
            <a:r>
              <a:rPr sz="5400" b="1" i="0" u="none">
                <a:solidFill>
                  <a:srgbClr val="38BDF8"/>
                </a:solidFill>
                <a:latin typeface="Space Grotesk"/>
              </a:rPr>
              <a:t>Spam</a:t>
            </a:r>
            <a:r>
              <a:rPr sz="5400" b="1" i="0" u="none">
                <a:solidFill>
                  <a:srgbClr val="F8FAFC"/>
                </a:solidFill>
                <a:latin typeface="Space Grotesk"/>
              </a:rPr>
              <a:t> &amp; </a:t>
            </a:r>
            <a:r>
              <a:rPr sz="5400" b="1" i="0" u="none">
                <a:solidFill>
                  <a:srgbClr val="818CF8"/>
                </a:solidFill>
                <a:latin typeface="Space Grotesk"/>
              </a:rPr>
              <a:t>Smishing</a:t>
            </a:r>
            <a:r>
              <a:rPr sz="5400" b="1" i="0" u="none">
                <a:solidFill>
                  <a:srgbClr val="F8FAFC"/>
                </a:solidFill>
                <a:latin typeface="Space Grotesk"/>
              </a:rPr>
              <a:t>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4022377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Outfit Light"/>
              </a:rPr>
              <a:t>An AI-powered pipeline to combat modern messaging threats using merged datasets and Natural Language Processing.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2181225"/>
            <a:ext cx="80010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Space Grotesk"/>
              </a:rPr>
              <a:t>The </a:t>
            </a:r>
            <a:r>
              <a:rPr sz="4800" b="1" i="0" u="none">
                <a:solidFill>
                  <a:srgbClr val="38BDF8"/>
                </a:solidFill>
                <a:latin typeface="Space Grotesk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524500" y="3248025"/>
            <a:ext cx="1143000" cy="381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571875"/>
            <a:ext cx="7620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Traditional spam filters fail against modern "Smishing" (SMS Phishing) attacks—such as fake UPI alerts, OTP frauds, and malicious delivery links. A model trained on legacy data cannot protect today's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7002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Outfit"/>
              </a:rPr>
              <a:t>Legacy Data:</a:t>
            </a:r>
            <a:r>
              <a:rPr sz="1500" b="0" i="0" u="none">
                <a:solidFill>
                  <a:srgbClr val="CBD5E1"/>
                </a:solidFill>
                <a:latin typeface="Outfit"/>
              </a:rPr>
              <a:t> Utilized the classic UCI SMS Spam dataset for baseline non-spam (Ham) and standard spam recognition.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8051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Outfit"/>
              </a:rPr>
              <a:t>Modern Threat Integration:</a:t>
            </a:r>
            <a:r>
              <a:rPr sz="1500" b="0" i="0" u="none">
                <a:solidFill>
                  <a:srgbClr val="CBD5E1"/>
                </a:solidFill>
                <a:latin typeface="Outfit"/>
              </a:rPr>
              <a:t> Downloaded and integrated a recent Kaggle "Smishing" dataset containing modern OTP and UPI frauds.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9100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Outfit"/>
              </a:rPr>
              <a:t>Standardization:</a:t>
            </a:r>
            <a:r>
              <a:rPr sz="1500" b="0" i="0" u="none">
                <a:solidFill>
                  <a:srgbClr val="CBD5E1"/>
                </a:solidFill>
                <a:latin typeface="Outfit"/>
              </a:rPr>
              <a:t> Addressed critical case-sensitivity issues (e.g., converting 'Smishing' and 'Spam' to a uniform 'spam' target).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5014912"/>
            <a:ext cx="4991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Outfit"/>
              </a:rPr>
              <a:t>Seamless Merge:</a:t>
            </a:r>
            <a:r>
              <a:rPr sz="1500" b="0" i="0" u="none">
                <a:solidFill>
                  <a:srgbClr val="CBD5E1"/>
                </a:solidFill>
                <a:latin typeface="Outfit"/>
              </a:rPr>
              <a:t> Combined datasets using Pandas `concat` with `ignore_index=True` to create a massive, robust training ground.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14537"/>
            <a:ext cx="5257800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The Solution: Dataset Aggregation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719262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24162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29062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3396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3028950"/>
            <a:ext cx="48768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sz="10500" b="1" i="0" u="none">
                <a:solidFill>
                  <a:srgbClr val="F8FAFC"/>
                </a:solidFill>
                <a:latin typeface="Space Grotesk"/>
              </a:rPr>
              <a:t>11.5k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457700"/>
            <a:ext cx="48768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SemiBold"/>
              </a:rPr>
              <a:t>TOTAL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538412"/>
            <a:ext cx="55406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Data Scale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071812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After merging the legacy and modern datasets, we rigorously dropped missing values (nulls) and strictly removed duplicate entries (`drop_duplicates`).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176712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This process yielded a pristine, highly diversified dataset of over 11,500 unique messages, ensuring the AI model learns complex patterns without overfitting to repeated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Unprecedented Training Volume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95475"/>
            <a:ext cx="3486150" cy="402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895475"/>
            <a:ext cx="3486150" cy="402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95475"/>
            <a:ext cx="3486150" cy="402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3100" y="2238375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3903" y="3190875"/>
            <a:ext cx="31403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1. Text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867150"/>
            <a:ext cx="29908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Lowercasing all text to ensure uniformity. Stripping out irrelevant numerical columns, URLs, and specialized tags that confuse the vectorizer.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238375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5803" y="3190875"/>
            <a:ext cx="31403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2. Tokenization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575" y="3867150"/>
            <a:ext cx="29908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Leveraging NLTK (`word_tokenize` and `sent_tokenize`) inside efficient lambda functions to break down massive text blocks into granular, analyzable words.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0" y="223837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7703" y="3190875"/>
            <a:ext cx="31403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3.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867150"/>
            <a:ext cx="29908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Removing linguistic noise by filtering out standard English stopwords and punctuation, followed by Porter Stemming to extract root word meanings.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8837" y="2447925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550" y="2447925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6450" y="244792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NLP Preprocessing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47887"/>
            <a:ext cx="5276850" cy="3524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47887"/>
            <a:ext cx="5276850" cy="3524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154" y="2538412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Structural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We extracted meta-features before altering the text. By applying Pandas `.apply(len)` and NLTK logic, we created num_char, num_words, and num_sent.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1767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Spam messages mathematically display higher structural complexity and character density compared to normal ham messages.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2255" y="2538412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Space Grotesk SemiBold"/>
              </a:rPr>
              <a:t>TF-IDF Vectorization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Machines cannot understand text. We deployed Term Frequency-Inverse Document Frequency (TF-IDF) to convert textual data into a numerical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1767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This algorithm penalizes highly frequent, meaningless words while boosting rare, high-impact terms like "OTP", "Urgent", or "Winner".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Feature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3050"/>
            <a:ext cx="1102995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414837"/>
            <a:ext cx="11029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In spam detection, </a:t>
            </a:r>
            <a:r>
              <a:rPr sz="1500" b="1" i="0" u="none">
                <a:solidFill>
                  <a:srgbClr val="CBD5E1"/>
                </a:solidFill>
                <a:latin typeface="Outfit"/>
              </a:rPr>
              <a:t>Precision</a:t>
            </a:r>
            <a:r>
              <a:rPr sz="1500" b="0" i="0" u="none">
                <a:solidFill>
                  <a:srgbClr val="CBD5E1"/>
                </a:solidFill>
                <a:latin typeface="Outfit"/>
              </a:rPr>
              <a:t> is the critical metric. A false positive (marking a real message as spam) is disastrous. Naive Bayes outperformed complex ensemble models, yielding near-perfect precision on the merged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Model Evaluation (Precision Focus)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08146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7605" y="4433887"/>
            <a:ext cx="2663614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72037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Dataset acquisition, merging Legacy (UCI) and Modern (Smishing)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8614" y="2224087"/>
            <a:ext cx="2663614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033" y="2662237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Data cleaning, fixing case sensitivity, and dropping duplicates/nulls.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622" y="4433887"/>
            <a:ext cx="2663614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042" y="4872037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Exploratory Data Analysis (EDA) &amp; NLP Feature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631" y="2224087"/>
            <a:ext cx="2663614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Phase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4050" y="2662237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Model Training, Pickling (.pkl), and deploying via Streamlit 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5112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6121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7129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28138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Project Development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771525"/>
            <a:ext cx="549068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Real-world Impact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300287"/>
            <a:ext cx="421052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818CF8"/>
                </a:solidFill>
                <a:latin typeface="Space Grotesk SemiBold"/>
              </a:rPr>
              <a:t>Protecting the Digital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928937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By upgrading the core training data, our model has shifted from merely detecting annoying marketing texts to actively blocking malicious financial threats.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224337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Outfit"/>
              </a:rPr>
              <a:t>This AI infrastructure provides real-time defense against identity theft, deceptive banking links, and localized cyber-attacks, proving the necessity of continuous data adaptation.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4268985"/>
            <a:ext cx="4648200" cy="48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5695" y="2103090"/>
            <a:ext cx="488061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38BDF8"/>
                </a:solidFill>
                <a:latin typeface="Space Grotesk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0" y="3427065"/>
            <a:ext cx="46482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Outfit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Outfit</vt:lpstr>
      <vt:lpstr>Outfit Light</vt:lpstr>
      <vt:lpstr>Outfit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yashvendra vyas</cp:lastModifiedBy>
  <cp:revision>1</cp:revision>
  <dcterms:created xsi:type="dcterms:W3CDTF">2013-01-27T09:14:16Z</dcterms:created>
  <dcterms:modified xsi:type="dcterms:W3CDTF">2026-09-09T21:05:29Z</dcterms:modified>
  <cp:category/>
</cp:coreProperties>
</file>